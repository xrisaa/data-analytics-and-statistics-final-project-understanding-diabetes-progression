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1B8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1828800"/>
            <a:ext cx="1005840" cy="1005840"/>
          </a:xfrm>
          <a:prstGeom prst="ellipse">
            <a:avLst/>
          </a:prstGeom>
          <a:solidFill>
            <a:srgbClr val="E0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2286000"/>
            <a:ext cx="640080" cy="640080"/>
          </a:xfrm>
          <a:prstGeom prst="ellipse">
            <a:avLst/>
          </a:prstGeom>
          <a:solidFill>
            <a:srgbClr val="4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94944"/>
            <a:ext cx="7040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8DCD2"/>
                </a:solidFill>
                <a:latin typeface="Aptos"/>
              </a:defRPr>
            </a:pPr>
            <a:r>
              <a:rPr dirty="0"/>
              <a:t>LEAP  |  DATA ANALYTICS AND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804672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Understanding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Diabetes Progression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5527371"/>
            <a:ext cx="274615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DEE8F1"/>
                </a:solidFill>
                <a:latin typeface="Aptos"/>
              </a:defRPr>
            </a:pPr>
            <a:r>
              <a:rPr lang="en-US" dirty="0"/>
              <a:t>Chrysoula Iordanidou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1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A decision-focused summary for health-service leaders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13232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04E"/>
                </a:solidFill>
                <a:latin typeface="Aptos"/>
              </a:defRPr>
            </a:pPr>
            <a:r>
              <a:rPr dirty="0"/>
              <a:t>Can a few health measures help us understand </a:t>
            </a:r>
            <a:r>
              <a:rPr lang="en-US" dirty="0"/>
              <a:t>diabetes </a:t>
            </a:r>
            <a:r>
              <a:rPr dirty="0"/>
              <a:t>progression?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A6978"/>
                </a:solidFill>
                <a:latin typeface="Aptos"/>
              </a:defRPr>
            </a:pPr>
            <a:r>
              <a:t>We examined 442 observations using a simple model and a model with three predictors.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880360" cy="2514600"/>
          </a:xfrm>
          <a:prstGeom prst="round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24231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442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2423160" cy="6868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DCE8F1"/>
                </a:solidFill>
                <a:latin typeface="Aptos"/>
              </a:defRPr>
            </a:pPr>
            <a:r>
              <a:rPr dirty="0"/>
              <a:t>people / </a:t>
            </a:r>
            <a:r>
              <a:rPr lang="en-US" dirty="0"/>
              <a:t>observations</a:t>
            </a:r>
            <a:endParaRPr dirty="0"/>
          </a:p>
          <a:p>
            <a:pPr algn="ctr">
              <a:spcAft>
                <a:spcPts val="700"/>
              </a:spcAft>
              <a:defRPr sz="1700" b="0">
                <a:solidFill>
                  <a:srgbClr val="DCE8F1"/>
                </a:solidFill>
                <a:latin typeface="Aptos"/>
              </a:defRPr>
            </a:pPr>
            <a:r>
              <a:rPr dirty="0"/>
              <a:t>in the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148840"/>
            <a:ext cx="33832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77639" y="2148840"/>
            <a:ext cx="82296" cy="2514600"/>
          </a:xfrm>
          <a:prstGeom prst="rect">
            <a:avLst/>
          </a:prstGeom>
          <a:solidFill>
            <a:srgbClr val="1B8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2313432"/>
            <a:ext cx="29992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761488"/>
            <a:ext cx="2999232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6313D"/>
                </a:solidFill>
                <a:latin typeface="Aptos"/>
              </a:defRPr>
            </a:pPr>
            <a:r>
              <a:rPr dirty="0"/>
              <a:t>Diabetes progression </a:t>
            </a:r>
            <a:r>
              <a:rPr lang="en-US" dirty="0"/>
              <a:t>-</a:t>
            </a:r>
            <a:r>
              <a:rPr dirty="0"/>
              <a:t> the measure we aim to understand.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14884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2148840"/>
            <a:ext cx="82296" cy="2514600"/>
          </a:xfrm>
          <a:prstGeom prst="rect">
            <a:avLst/>
          </a:prstGeom>
          <a:solidFill>
            <a:srgbClr val="E0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2313432"/>
            <a:ext cx="32735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t>Predictors examined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761488"/>
            <a:ext cx="3273552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6313D"/>
                </a:solidFill>
                <a:latin typeface="Aptos"/>
              </a:defRPr>
            </a:pPr>
            <a:r>
              <a:rPr dirty="0"/>
              <a:t>BMI, blood pressure and </a:t>
            </a:r>
            <a:r>
              <a:rPr lang="en-US" dirty="0"/>
              <a:t>s</a:t>
            </a:r>
            <a:r>
              <a:rPr dirty="0"/>
              <a:t>5, a blood-measure variable in the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t>Purpose: identify useful patterns in the data, not diagnose an individual or determine cause.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rPr dirty="0"/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04E"/>
                </a:solidFill>
                <a:latin typeface="Aptos"/>
              </a:defRPr>
            </a:pPr>
            <a:r>
              <a:t>Using three measures explains more of the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A6978"/>
                </a:solidFill>
                <a:latin typeface="Aptos"/>
              </a:defRPr>
            </a:pPr>
            <a:r>
              <a:t>The multiple model uses BMI, blood pressure and S5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8304E"/>
                </a:solidFill>
                <a:latin typeface="Aptos"/>
              </a:defRPr>
            </a:pPr>
            <a:r>
              <a:t>BMI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97480"/>
            <a:ext cx="4480560" cy="502920"/>
          </a:xfrm>
          <a:prstGeom prst="roundRect">
            <a:avLst/>
          </a:prstGeom>
          <a:solidFill>
            <a:srgbClr val="DE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2802386" cy="502920"/>
          </a:xfrm>
          <a:prstGeom prst="roundRect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44805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5A6978"/>
                </a:solidFill>
                <a:latin typeface="Aptos"/>
              </a:defRPr>
            </a:pPr>
            <a:r>
              <a:t>34.4%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4805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A6978"/>
                </a:solidFill>
                <a:latin typeface="Aptos"/>
              </a:defRPr>
            </a:pPr>
            <a:r>
              <a:t>of variation in progression explained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457200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8304E"/>
                </a:solidFill>
                <a:latin typeface="Aptos"/>
              </a:defRPr>
            </a:pPr>
            <a:r>
              <a:rPr dirty="0"/>
              <a:t>BMI + blood pressure + </a:t>
            </a:r>
            <a:r>
              <a:rPr lang="en-US" dirty="0"/>
              <a:t>s</a:t>
            </a:r>
            <a:r>
              <a:rPr dirty="0"/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97480"/>
            <a:ext cx="4480560" cy="502920"/>
          </a:xfrm>
          <a:prstGeom prst="roundRect">
            <a:avLst/>
          </a:prstGeom>
          <a:solidFill>
            <a:srgbClr val="DE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2697480"/>
            <a:ext cx="3910306" cy="502920"/>
          </a:xfrm>
          <a:prstGeom prst="roundRect">
            <a:avLst/>
          </a:prstGeom>
          <a:solidFill>
            <a:srgbClr val="1B8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3401568"/>
            <a:ext cx="44805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B8785"/>
                </a:solidFill>
                <a:latin typeface="Aptos"/>
              </a:defRPr>
            </a:pPr>
            <a:r>
              <a:t>48.0%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023360"/>
            <a:ext cx="44805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A6978"/>
                </a:solidFill>
                <a:latin typeface="Aptos"/>
              </a:defRPr>
            </a:pPr>
            <a:r>
              <a:t>of variation in progression explained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74920"/>
            <a:ext cx="10287000" cy="731520"/>
          </a:xfrm>
          <a:prstGeom prst="roundRect">
            <a:avLst/>
          </a:prstGeom>
          <a:solidFill>
            <a:srgbClr val="EF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5266944"/>
            <a:ext cx="9784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304E"/>
                </a:solidFill>
                <a:latin typeface="Aptos"/>
              </a:defRPr>
            </a:pPr>
            <a:r>
              <a:t>The three-predictor model explains about 14 percentage points more variation.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04E"/>
                </a:solidFill>
                <a:latin typeface="Aptos"/>
              </a:defRPr>
            </a:pPr>
            <a:r>
              <a:t>All three measures show positive associations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A6978"/>
                </a:solidFill>
                <a:latin typeface="Aptos"/>
              </a:defRPr>
            </a:pPr>
            <a:r>
              <a:t>In this model, each measure is associated with higher predicted progression when the other two are held constant.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82296" cy="2057400"/>
          </a:xfrm>
          <a:prstGeom prst="rect">
            <a:avLst/>
          </a:prstGeom>
          <a:solidFill>
            <a:srgbClr val="1B8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t>BMI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61488"/>
            <a:ext cx="3044952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26313D"/>
                </a:solidFill>
                <a:latin typeface="Aptos"/>
              </a:defRPr>
            </a:pPr>
            <a:r>
              <a:t>+6.50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154680"/>
            <a:ext cx="2926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t>Predicted progression rises by about 6.5 units per one-unit BMI increase.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148840"/>
            <a:ext cx="82296" cy="2057400"/>
          </a:xfrm>
          <a:prstGeom prst="rect">
            <a:avLst/>
          </a:prstGeom>
          <a:solidFill>
            <a:srgbClr val="E0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t>Blood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61488"/>
            <a:ext cx="3044952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26313D"/>
                </a:solidFill>
                <a:latin typeface="Aptos"/>
              </a:defRPr>
            </a:pPr>
            <a:r>
              <a:t>+0.903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154680"/>
            <a:ext cx="2926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t>A one-unit increase is associated with about 0.9 more predicted progression units.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82296" cy="2057400"/>
          </a:xfrm>
          <a:prstGeom prst="rect">
            <a:avLst/>
          </a:prstGeom>
          <a:solidFill>
            <a:srgbClr val="1B8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31343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rPr lang="en-US" dirty="0"/>
              <a:t>S</a:t>
            </a:r>
            <a:r>
              <a:rPr dirty="0"/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761488"/>
            <a:ext cx="3044952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26313D"/>
                </a:solidFill>
                <a:latin typeface="Aptos"/>
              </a:defRPr>
            </a:pPr>
            <a:r>
              <a:t>+49.6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154680"/>
            <a:ext cx="2926080" cy="7663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rPr dirty="0"/>
              <a:t>Higher </a:t>
            </a:r>
            <a:r>
              <a:rPr lang="en-US" dirty="0"/>
              <a:t>s</a:t>
            </a:r>
            <a:r>
              <a:rPr dirty="0"/>
              <a:t>5 is associated with higher predicted progression in this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t>The estimates are statistically clear in this dataset, but statistical significance does not by itself show that an effect is large or clinically important.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13232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04E"/>
                </a:solidFill>
                <a:latin typeface="Aptos"/>
              </a:defRPr>
            </a:pPr>
            <a:r>
              <a:rPr dirty="0"/>
              <a:t>Useful evidence — not proof of cause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A6978"/>
                </a:solidFill>
                <a:latin typeface="Aptos"/>
              </a:defRPr>
            </a:pPr>
            <a:r>
              <a:rPr dirty="0"/>
              <a:t>The analysis is a starting point for understanding patterns, not a stand</a:t>
            </a:r>
            <a:r>
              <a:rPr lang="en-US" dirty="0"/>
              <a:t> </a:t>
            </a:r>
            <a:r>
              <a:rPr dirty="0"/>
              <a:t>alone basis for clinical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82296" cy="1417320"/>
          </a:xfrm>
          <a:prstGeom prst="rect">
            <a:avLst/>
          </a:prstGeom>
          <a:solidFill>
            <a:srgbClr val="1B8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t>What the data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4782312" cy="7663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rPr dirty="0"/>
              <a:t>BMI, blood pressure and </a:t>
            </a:r>
            <a:r>
              <a:rPr lang="en-US" dirty="0"/>
              <a:t>s</a:t>
            </a:r>
            <a:r>
              <a:rPr dirty="0"/>
              <a:t>5 are associated with progression; the three-predictor model explains 48% of observed variation.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965960"/>
            <a:ext cx="82296" cy="1417320"/>
          </a:xfrm>
          <a:prstGeom prst="rect">
            <a:avLst/>
          </a:prstGeom>
          <a:solidFill>
            <a:srgbClr val="A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30552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t>What they do not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78608"/>
            <a:ext cx="478231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t>We cannot conclude that changing any one measure will cause progression to change, or that the same results apply to every population.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3781604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9844" y="3807916"/>
            <a:ext cx="82296" cy="1417320"/>
          </a:xfrm>
          <a:prstGeom prst="rect">
            <a:avLst/>
          </a:prstGeom>
          <a:solidFill>
            <a:srgbClr val="E0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5324" y="3930188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rPr dirty="0"/>
              <a:t>Main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5324" y="4296931"/>
            <a:ext cx="478231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rPr dirty="0"/>
              <a:t>About 52% of variation remains unexplained. Other factors, measurement error and the model's assumptions may matter.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51560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4E"/>
                </a:solidFill>
                <a:latin typeface="Aptos"/>
              </a:defRPr>
            </a:pPr>
            <a:r>
              <a:rPr dirty="0"/>
              <a:t>Bottom line: </a:t>
            </a:r>
            <a:r>
              <a:rPr lang="en-US" dirty="0"/>
              <a:t>we should </a:t>
            </a:r>
            <a:r>
              <a:rPr dirty="0"/>
              <a:t>use these findings to guide further investigation, not to claim causation.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377</Words>
  <Application>Microsoft Office PowerPoint</Application>
  <PresentationFormat>Ευρεία οθόνη</PresentationFormat>
  <Paragraphs>50</Paragraphs>
  <Slides>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Evangelou Evangelos</cp:lastModifiedBy>
  <cp:revision>3</cp:revision>
  <dcterms:created xsi:type="dcterms:W3CDTF">2013-01-27T09:14:16Z</dcterms:created>
  <dcterms:modified xsi:type="dcterms:W3CDTF">2026-10-23T09:45:17Z</dcterms:modified>
  <cp:category/>
</cp:coreProperties>
</file>